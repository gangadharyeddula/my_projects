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4630400" cy="8229600"/>
  <p:notesSz cx="8229600" cy="14630400"/>
  <p:embeddedFontLst>
    <p:embeddedFont>
      <p:font typeface="Gelasio" panose="020B0604020202020204" charset="0"/>
      <p:regular r:id="rId10"/>
    </p:embeddedFont>
    <p:embeddedFont>
      <p:font typeface="Lato" panose="020F0502020204030203" pitchFamily="34" charset="0"/>
      <p:regular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44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10575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829753"/>
            <a:ext cx="7556421" cy="2126337"/>
          </a:xfrm>
          <a:prstGeom prst="rect">
            <a:avLst/>
          </a:prstGeom>
          <a:noFill/>
          <a:ln/>
        </p:spPr>
        <p:txBody>
          <a:bodyPr wrap="square" lIns="0" tIns="0" rIns="0" bIns="0" rtlCol="0" anchor="t"/>
          <a:lstStyle/>
          <a:p>
            <a:pPr marL="0" indent="0" algn="l">
              <a:lnSpc>
                <a:spcPts val="5550"/>
              </a:lnSpc>
              <a:buNone/>
            </a:pPr>
            <a:r>
              <a:rPr lang="en-US" sz="4450" dirty="0">
                <a:solidFill>
                  <a:srgbClr val="312F2B"/>
                </a:solidFill>
                <a:latin typeface="Gelasio" pitchFamily="34" charset="0"/>
                <a:ea typeface="Gelasio" pitchFamily="34" charset="-122"/>
                <a:cs typeface="Gelasio" pitchFamily="34" charset="-120"/>
              </a:rPr>
              <a:t>Building a Student Management System with Python</a:t>
            </a:r>
            <a:endParaRPr lang="en-US" sz="4450" dirty="0"/>
          </a:p>
        </p:txBody>
      </p:sp>
      <p:sp>
        <p:nvSpPr>
          <p:cNvPr id="4" name="Text 1"/>
          <p:cNvSpPr/>
          <p:nvPr/>
        </p:nvSpPr>
        <p:spPr>
          <a:xfrm>
            <a:off x="793790" y="4296251"/>
            <a:ext cx="7556421"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This presentation explores the development of a robust student management system using Python. We'll cover everything from database integration to building a user-friendly interface, providing a comprehensive guide for developers and students alike.</a:t>
            </a:r>
            <a:endParaRPr lang="en-US" sz="1750" dirty="0"/>
          </a:p>
        </p:txBody>
      </p:sp>
      <p:sp>
        <p:nvSpPr>
          <p:cNvPr id="5" name="Shape 2"/>
          <p:cNvSpPr/>
          <p:nvPr/>
        </p:nvSpPr>
        <p:spPr>
          <a:xfrm>
            <a:off x="793790" y="6019919"/>
            <a:ext cx="362903" cy="362903"/>
          </a:xfrm>
          <a:prstGeom prst="roundRect">
            <a:avLst>
              <a:gd name="adj" fmla="val 25194296"/>
            </a:avLst>
          </a:prstGeom>
          <a:noFill/>
          <a:ln w="7620">
            <a:solidFill>
              <a:srgbClr val="FFFFFF"/>
            </a:solidFill>
            <a:prstDash val="solid"/>
          </a:ln>
        </p:spPr>
      </p:sp>
      <p:pic>
        <p:nvPicPr>
          <p:cNvPr id="6" name="Image 1" descr="preencoded.png"/>
          <p:cNvPicPr>
            <a:picLocks noChangeAspect="1"/>
          </p:cNvPicPr>
          <p:nvPr/>
        </p:nvPicPr>
        <p:blipFill>
          <a:blip r:embed="rId4"/>
          <a:stretch>
            <a:fillRect/>
          </a:stretch>
        </p:blipFill>
        <p:spPr>
          <a:xfrm>
            <a:off x="801410" y="6027539"/>
            <a:ext cx="347663" cy="347663"/>
          </a:xfrm>
          <a:prstGeom prst="rect">
            <a:avLst/>
          </a:prstGeom>
        </p:spPr>
      </p:pic>
      <p:sp>
        <p:nvSpPr>
          <p:cNvPr id="7" name="Text 3"/>
          <p:cNvSpPr/>
          <p:nvPr/>
        </p:nvSpPr>
        <p:spPr>
          <a:xfrm>
            <a:off x="1270040" y="6003012"/>
            <a:ext cx="1758791" cy="396835"/>
          </a:xfrm>
          <a:prstGeom prst="rect">
            <a:avLst/>
          </a:prstGeom>
          <a:noFill/>
          <a:ln/>
        </p:spPr>
        <p:txBody>
          <a:bodyPr wrap="none" lIns="0" tIns="0" rIns="0" bIns="0" rtlCol="0" anchor="t"/>
          <a:lstStyle/>
          <a:p>
            <a:pPr marL="0" indent="0" algn="l">
              <a:lnSpc>
                <a:spcPts val="3100"/>
              </a:lnSpc>
              <a:buNone/>
            </a:pPr>
            <a:r>
              <a:rPr lang="en-US" sz="2200" b="1" dirty="0">
                <a:solidFill>
                  <a:srgbClr val="272525"/>
                </a:solidFill>
                <a:latin typeface="Lato Bold" pitchFamily="34" charset="0"/>
                <a:ea typeface="Lato Bold" pitchFamily="34" charset="-122"/>
                <a:cs typeface="Lato Bold" pitchFamily="34" charset="-120"/>
              </a:rPr>
              <a:t>by Gangadhar</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018937"/>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312F2B"/>
                </a:solidFill>
                <a:latin typeface="Gelasio" pitchFamily="34" charset="0"/>
                <a:ea typeface="Gelasio" pitchFamily="34" charset="-122"/>
                <a:cs typeface="Gelasio" pitchFamily="34" charset="-120"/>
              </a:rPr>
              <a:t>Core Components of the System</a:t>
            </a:r>
            <a:endParaRPr lang="en-US" sz="4450" dirty="0"/>
          </a:p>
        </p:txBody>
      </p:sp>
      <p:pic>
        <p:nvPicPr>
          <p:cNvPr id="4" name="Image 1" descr="preencoded.png"/>
          <p:cNvPicPr>
            <a:picLocks noChangeAspect="1"/>
          </p:cNvPicPr>
          <p:nvPr/>
        </p:nvPicPr>
        <p:blipFill>
          <a:blip r:embed="rId4"/>
          <a:stretch>
            <a:fillRect/>
          </a:stretch>
        </p:blipFill>
        <p:spPr>
          <a:xfrm>
            <a:off x="6280190" y="2776657"/>
            <a:ext cx="566976" cy="566976"/>
          </a:xfrm>
          <a:prstGeom prst="rect">
            <a:avLst/>
          </a:prstGeom>
        </p:spPr>
      </p:pic>
      <p:sp>
        <p:nvSpPr>
          <p:cNvPr id="5" name="Text 1"/>
          <p:cNvSpPr/>
          <p:nvPr/>
        </p:nvSpPr>
        <p:spPr>
          <a:xfrm>
            <a:off x="6280190" y="3570446"/>
            <a:ext cx="2329815" cy="708660"/>
          </a:xfrm>
          <a:prstGeom prst="rect">
            <a:avLst/>
          </a:prstGeom>
          <a:noFill/>
          <a:ln/>
        </p:spPr>
        <p:txBody>
          <a:bodyPr wrap="square" lIns="0" tIns="0" rIns="0" bIns="0" rtlCol="0" anchor="t"/>
          <a:lstStyle/>
          <a:p>
            <a:pPr marL="0" indent="0" algn="l">
              <a:lnSpc>
                <a:spcPts val="2750"/>
              </a:lnSpc>
              <a:buNone/>
            </a:pPr>
            <a:r>
              <a:rPr lang="en-US" sz="2200" dirty="0">
                <a:solidFill>
                  <a:srgbClr val="272525"/>
                </a:solidFill>
                <a:latin typeface="Gelasio" pitchFamily="34" charset="0"/>
                <a:ea typeface="Gelasio" pitchFamily="34" charset="-122"/>
                <a:cs typeface="Gelasio" pitchFamily="34" charset="-120"/>
              </a:rPr>
              <a:t>Database Management</a:t>
            </a:r>
            <a:endParaRPr lang="en-US" sz="2200" dirty="0"/>
          </a:p>
        </p:txBody>
      </p:sp>
      <p:sp>
        <p:nvSpPr>
          <p:cNvPr id="6" name="Text 2"/>
          <p:cNvSpPr/>
          <p:nvPr/>
        </p:nvSpPr>
        <p:spPr>
          <a:xfrm>
            <a:off x="6280190" y="4415195"/>
            <a:ext cx="2329815"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Store student, course, and grade data efficiently.</a:t>
            </a:r>
            <a:endParaRPr lang="en-US" sz="1750" dirty="0"/>
          </a:p>
        </p:txBody>
      </p:sp>
      <p:pic>
        <p:nvPicPr>
          <p:cNvPr id="7" name="Image 2" descr="preencoded.png"/>
          <p:cNvPicPr>
            <a:picLocks noChangeAspect="1"/>
          </p:cNvPicPr>
          <p:nvPr/>
        </p:nvPicPr>
        <p:blipFill>
          <a:blip r:embed="rId5"/>
          <a:stretch>
            <a:fillRect/>
          </a:stretch>
        </p:blipFill>
        <p:spPr>
          <a:xfrm>
            <a:off x="8893493" y="2776657"/>
            <a:ext cx="566976" cy="566976"/>
          </a:xfrm>
          <a:prstGeom prst="rect">
            <a:avLst/>
          </a:prstGeom>
        </p:spPr>
      </p:pic>
      <p:sp>
        <p:nvSpPr>
          <p:cNvPr id="8" name="Text 3"/>
          <p:cNvSpPr/>
          <p:nvPr/>
        </p:nvSpPr>
        <p:spPr>
          <a:xfrm>
            <a:off x="8893493" y="3570446"/>
            <a:ext cx="2329815" cy="354330"/>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Gelasio" pitchFamily="34" charset="0"/>
                <a:ea typeface="Gelasio" pitchFamily="34" charset="-122"/>
                <a:cs typeface="Gelasio" pitchFamily="34" charset="-120"/>
              </a:rPr>
              <a:t>User Interface</a:t>
            </a:r>
            <a:endParaRPr lang="en-US" sz="2200" dirty="0"/>
          </a:p>
        </p:txBody>
      </p:sp>
      <p:sp>
        <p:nvSpPr>
          <p:cNvPr id="9" name="Text 4"/>
          <p:cNvSpPr/>
          <p:nvPr/>
        </p:nvSpPr>
        <p:spPr>
          <a:xfrm>
            <a:off x="8893493" y="4060865"/>
            <a:ext cx="2329815"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Enable easy interaction for administrators and students.</a:t>
            </a:r>
            <a:endParaRPr lang="en-US" sz="1750" dirty="0"/>
          </a:p>
        </p:txBody>
      </p:sp>
      <p:pic>
        <p:nvPicPr>
          <p:cNvPr id="10" name="Image 3" descr="preencoded.png"/>
          <p:cNvPicPr>
            <a:picLocks noChangeAspect="1"/>
          </p:cNvPicPr>
          <p:nvPr/>
        </p:nvPicPr>
        <p:blipFill>
          <a:blip r:embed="rId6"/>
          <a:stretch>
            <a:fillRect/>
          </a:stretch>
        </p:blipFill>
        <p:spPr>
          <a:xfrm>
            <a:off x="11506795" y="2776657"/>
            <a:ext cx="566976" cy="566976"/>
          </a:xfrm>
          <a:prstGeom prst="rect">
            <a:avLst/>
          </a:prstGeom>
        </p:spPr>
      </p:pic>
      <p:sp>
        <p:nvSpPr>
          <p:cNvPr id="11" name="Text 5"/>
          <p:cNvSpPr/>
          <p:nvPr/>
        </p:nvSpPr>
        <p:spPr>
          <a:xfrm>
            <a:off x="11506795" y="3570446"/>
            <a:ext cx="2329815" cy="354330"/>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Gelasio" pitchFamily="34" charset="0"/>
                <a:ea typeface="Gelasio" pitchFamily="34" charset="-122"/>
                <a:cs typeface="Gelasio" pitchFamily="34" charset="-120"/>
              </a:rPr>
              <a:t>Backend Logic</a:t>
            </a:r>
            <a:endParaRPr lang="en-US" sz="2200" dirty="0"/>
          </a:p>
        </p:txBody>
      </p:sp>
      <p:sp>
        <p:nvSpPr>
          <p:cNvPr id="12" name="Text 6"/>
          <p:cNvSpPr/>
          <p:nvPr/>
        </p:nvSpPr>
        <p:spPr>
          <a:xfrm>
            <a:off x="11506795" y="4060865"/>
            <a:ext cx="2329815"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Process data and manage system operations.</a:t>
            </a:r>
            <a:endParaRPr lang="en-US" sz="1750" dirty="0"/>
          </a:p>
        </p:txBody>
      </p:sp>
      <p:sp>
        <p:nvSpPr>
          <p:cNvPr id="13" name="Text 7"/>
          <p:cNvSpPr/>
          <p:nvPr/>
        </p:nvSpPr>
        <p:spPr>
          <a:xfrm>
            <a:off x="6280190" y="5759053"/>
            <a:ext cx="7556421"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A student management system relies on three core components: a database for data storage, a user interface for interaction, and backend logic to drive functionality. Each component plays a crucial role in the system's overall performance and usability.</a:t>
            </a:r>
            <a:endParaRPr lang="en-US" sz="1750" dirty="0"/>
          </a:p>
        </p:txBody>
      </p:sp>
      <p:sp>
        <p:nvSpPr>
          <p:cNvPr id="14" name="Oval 13">
            <a:extLst>
              <a:ext uri="{FF2B5EF4-FFF2-40B4-BE49-F238E27FC236}">
                <a16:creationId xmlns:a16="http://schemas.microsoft.com/office/drawing/2014/main" id="{A0AC9476-A272-A224-9D97-E5B53F82157D}"/>
              </a:ext>
            </a:extLst>
          </p:cNvPr>
          <p:cNvSpPr/>
          <p:nvPr/>
        </p:nvSpPr>
        <p:spPr>
          <a:xfrm>
            <a:off x="12656127" y="7465813"/>
            <a:ext cx="1974273" cy="763787"/>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970127"/>
            <a:ext cx="7242810" cy="708779"/>
          </a:xfrm>
          <a:prstGeom prst="rect">
            <a:avLst/>
          </a:prstGeom>
          <a:noFill/>
          <a:ln/>
        </p:spPr>
        <p:txBody>
          <a:bodyPr wrap="none" lIns="0" tIns="0" rIns="0" bIns="0" rtlCol="0" anchor="t"/>
          <a:lstStyle/>
          <a:p>
            <a:pPr marL="0" indent="0" algn="l">
              <a:lnSpc>
                <a:spcPts val="5550"/>
              </a:lnSpc>
              <a:buNone/>
            </a:pPr>
            <a:r>
              <a:rPr lang="en-US" sz="4450" dirty="0">
                <a:solidFill>
                  <a:srgbClr val="312F2B"/>
                </a:solidFill>
                <a:latin typeface="Gelasio" pitchFamily="34" charset="0"/>
                <a:ea typeface="Gelasio" pitchFamily="34" charset="-122"/>
                <a:cs typeface="Gelasio" pitchFamily="34" charset="-120"/>
              </a:rPr>
              <a:t>Choosing the Right Database</a:t>
            </a:r>
            <a:endParaRPr lang="en-US" sz="4450" dirty="0"/>
          </a:p>
        </p:txBody>
      </p:sp>
      <p:sp>
        <p:nvSpPr>
          <p:cNvPr id="3" name="Text 1"/>
          <p:cNvSpPr/>
          <p:nvPr/>
        </p:nvSpPr>
        <p:spPr>
          <a:xfrm>
            <a:off x="793790" y="324588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12F2B"/>
                </a:solidFill>
                <a:latin typeface="Gelasio" pitchFamily="34" charset="0"/>
                <a:ea typeface="Gelasio" pitchFamily="34" charset="-122"/>
                <a:cs typeface="Gelasio" pitchFamily="34" charset="-120"/>
              </a:rPr>
              <a:t>SQLite</a:t>
            </a:r>
            <a:endParaRPr lang="en-US" sz="2200" dirty="0"/>
          </a:p>
        </p:txBody>
      </p:sp>
      <p:sp>
        <p:nvSpPr>
          <p:cNvPr id="4" name="Text 2"/>
          <p:cNvSpPr/>
          <p:nvPr/>
        </p:nvSpPr>
        <p:spPr>
          <a:xfrm>
            <a:off x="793790" y="3827026"/>
            <a:ext cx="6244709"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Lightweight and embedded. Ideal for small applications.</a:t>
            </a:r>
            <a:endParaRPr lang="en-US" sz="1750" dirty="0"/>
          </a:p>
        </p:txBody>
      </p:sp>
      <p:sp>
        <p:nvSpPr>
          <p:cNvPr id="5" name="Text 3"/>
          <p:cNvSpPr/>
          <p:nvPr/>
        </p:nvSpPr>
        <p:spPr>
          <a:xfrm>
            <a:off x="793790" y="4394002"/>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Lato" pitchFamily="34" charset="0"/>
                <a:ea typeface="Lato" pitchFamily="34" charset="-122"/>
                <a:cs typeface="Lato" pitchFamily="34" charset="-120"/>
              </a:rPr>
              <a:t>No separate server needed.</a:t>
            </a:r>
            <a:endParaRPr lang="en-US" sz="1750" dirty="0"/>
          </a:p>
        </p:txBody>
      </p:sp>
      <p:sp>
        <p:nvSpPr>
          <p:cNvPr id="6" name="Text 4"/>
          <p:cNvSpPr/>
          <p:nvPr/>
        </p:nvSpPr>
        <p:spPr>
          <a:xfrm>
            <a:off x="793790" y="4836200"/>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Lato" pitchFamily="34" charset="0"/>
                <a:ea typeface="Lato" pitchFamily="34" charset="-122"/>
                <a:cs typeface="Lato" pitchFamily="34" charset="-120"/>
              </a:rPr>
              <a:t>File-based storage.</a:t>
            </a:r>
            <a:endParaRPr lang="en-US" sz="1750" dirty="0"/>
          </a:p>
        </p:txBody>
      </p:sp>
      <p:sp>
        <p:nvSpPr>
          <p:cNvPr id="7" name="Text 5"/>
          <p:cNvSpPr/>
          <p:nvPr/>
        </p:nvSpPr>
        <p:spPr>
          <a:xfrm>
            <a:off x="7599521" y="324588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12F2B"/>
                </a:solidFill>
                <a:latin typeface="Gelasio" pitchFamily="34" charset="0"/>
                <a:ea typeface="Gelasio" pitchFamily="34" charset="-122"/>
                <a:cs typeface="Gelasio" pitchFamily="34" charset="-120"/>
              </a:rPr>
              <a:t>PostgreSQL</a:t>
            </a:r>
            <a:endParaRPr lang="en-US" sz="2200" dirty="0"/>
          </a:p>
        </p:txBody>
      </p:sp>
      <p:sp>
        <p:nvSpPr>
          <p:cNvPr id="8" name="Text 6"/>
          <p:cNvSpPr/>
          <p:nvPr/>
        </p:nvSpPr>
        <p:spPr>
          <a:xfrm>
            <a:off x="7599521" y="3827026"/>
            <a:ext cx="6244709"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Robust and scalable. Suitable for larger systems.</a:t>
            </a:r>
            <a:endParaRPr lang="en-US" sz="1750" dirty="0"/>
          </a:p>
        </p:txBody>
      </p:sp>
      <p:sp>
        <p:nvSpPr>
          <p:cNvPr id="9" name="Text 7"/>
          <p:cNvSpPr/>
          <p:nvPr/>
        </p:nvSpPr>
        <p:spPr>
          <a:xfrm>
            <a:off x="7599521" y="4394002"/>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Lato" pitchFamily="34" charset="0"/>
                <a:ea typeface="Lato" pitchFamily="34" charset="-122"/>
                <a:cs typeface="Lato" pitchFamily="34" charset="-120"/>
              </a:rPr>
              <a:t>Client-server architecture.</a:t>
            </a:r>
            <a:endParaRPr lang="en-US" sz="1750" dirty="0"/>
          </a:p>
        </p:txBody>
      </p:sp>
      <p:sp>
        <p:nvSpPr>
          <p:cNvPr id="10" name="Text 8"/>
          <p:cNvSpPr/>
          <p:nvPr/>
        </p:nvSpPr>
        <p:spPr>
          <a:xfrm>
            <a:off x="7599521" y="4836200"/>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Lato" pitchFamily="34" charset="0"/>
                <a:ea typeface="Lato" pitchFamily="34" charset="-122"/>
                <a:cs typeface="Lato" pitchFamily="34" charset="-120"/>
              </a:rPr>
              <a:t>Advanced features and security.</a:t>
            </a:r>
            <a:endParaRPr lang="en-US" sz="1750" dirty="0"/>
          </a:p>
        </p:txBody>
      </p:sp>
      <p:sp>
        <p:nvSpPr>
          <p:cNvPr id="11" name="Text 9"/>
          <p:cNvSpPr/>
          <p:nvPr/>
        </p:nvSpPr>
        <p:spPr>
          <a:xfrm>
            <a:off x="793790" y="5533549"/>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Selecting the appropriate database is crucial. SQLite is excellent for quick prototypes or small-scale systems, while PostgreSQL offers scalability and advanced features for larger, more complex student management solutions.</a:t>
            </a:r>
            <a:endParaRPr lang="en-US" sz="1750" dirty="0"/>
          </a:p>
        </p:txBody>
      </p:sp>
      <p:sp>
        <p:nvSpPr>
          <p:cNvPr id="12" name="Oval 11">
            <a:extLst>
              <a:ext uri="{FF2B5EF4-FFF2-40B4-BE49-F238E27FC236}">
                <a16:creationId xmlns:a16="http://schemas.microsoft.com/office/drawing/2014/main" id="{A51D3F7B-7A30-E061-FB69-473A72E8DBE9}"/>
              </a:ext>
            </a:extLst>
          </p:cNvPr>
          <p:cNvSpPr/>
          <p:nvPr/>
        </p:nvSpPr>
        <p:spPr>
          <a:xfrm>
            <a:off x="12656127" y="7476204"/>
            <a:ext cx="1974273" cy="763787"/>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en-IN"/>
          </a:p>
        </p:txBody>
      </p:sp>
      <p:sp>
        <p:nvSpPr>
          <p:cNvPr id="13" name="Oval 12">
            <a:extLst>
              <a:ext uri="{FF2B5EF4-FFF2-40B4-BE49-F238E27FC236}">
                <a16:creationId xmlns:a16="http://schemas.microsoft.com/office/drawing/2014/main" id="{C3573F59-0731-D54B-D4BC-EBD78A635C4E}"/>
              </a:ext>
            </a:extLst>
          </p:cNvPr>
          <p:cNvSpPr/>
          <p:nvPr/>
        </p:nvSpPr>
        <p:spPr>
          <a:xfrm>
            <a:off x="12656127" y="7476204"/>
            <a:ext cx="1974273" cy="763787"/>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119902"/>
            <a:ext cx="7173397" cy="708779"/>
          </a:xfrm>
          <a:prstGeom prst="rect">
            <a:avLst/>
          </a:prstGeom>
          <a:noFill/>
          <a:ln/>
        </p:spPr>
        <p:txBody>
          <a:bodyPr wrap="none" lIns="0" tIns="0" rIns="0" bIns="0" rtlCol="0" anchor="t"/>
          <a:lstStyle/>
          <a:p>
            <a:pPr marL="0" indent="0" algn="l">
              <a:lnSpc>
                <a:spcPts val="5550"/>
              </a:lnSpc>
              <a:buNone/>
            </a:pPr>
            <a:r>
              <a:rPr lang="en-US" sz="4450" dirty="0">
                <a:solidFill>
                  <a:srgbClr val="312F2B"/>
                </a:solidFill>
                <a:latin typeface="Gelasio" pitchFamily="34" charset="0"/>
                <a:ea typeface="Gelasio" pitchFamily="34" charset="-122"/>
                <a:cs typeface="Gelasio" pitchFamily="34" charset="-120"/>
              </a:rPr>
              <a:t>Designing the User Interface</a:t>
            </a:r>
            <a:endParaRPr lang="en-US" sz="4450" dirty="0"/>
          </a:p>
        </p:txBody>
      </p:sp>
      <p:sp>
        <p:nvSpPr>
          <p:cNvPr id="4" name="Shape 1"/>
          <p:cNvSpPr/>
          <p:nvPr/>
        </p:nvSpPr>
        <p:spPr>
          <a:xfrm>
            <a:off x="6280190" y="2168843"/>
            <a:ext cx="3664863" cy="1685092"/>
          </a:xfrm>
          <a:prstGeom prst="roundRect">
            <a:avLst>
              <a:gd name="adj" fmla="val 5654"/>
            </a:avLst>
          </a:prstGeom>
          <a:solidFill>
            <a:srgbClr val="E8E8E3"/>
          </a:solidFill>
          <a:ln w="7620">
            <a:solidFill>
              <a:srgbClr val="CECEC9"/>
            </a:solidFill>
            <a:prstDash val="solid"/>
          </a:ln>
        </p:spPr>
      </p:sp>
      <p:sp>
        <p:nvSpPr>
          <p:cNvPr id="5" name="Text 2"/>
          <p:cNvSpPr/>
          <p:nvPr/>
        </p:nvSpPr>
        <p:spPr>
          <a:xfrm>
            <a:off x="6514624" y="240327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Gelasio" pitchFamily="34" charset="0"/>
                <a:ea typeface="Gelasio" pitchFamily="34" charset="-122"/>
                <a:cs typeface="Gelasio" pitchFamily="34" charset="-120"/>
              </a:rPr>
              <a:t>Tkinter</a:t>
            </a:r>
            <a:endParaRPr lang="en-US" sz="2200" dirty="0"/>
          </a:p>
        </p:txBody>
      </p:sp>
      <p:sp>
        <p:nvSpPr>
          <p:cNvPr id="6" name="Text 3"/>
          <p:cNvSpPr/>
          <p:nvPr/>
        </p:nvSpPr>
        <p:spPr>
          <a:xfrm>
            <a:off x="6514624" y="2893695"/>
            <a:ext cx="3195995"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Python's standard GUI toolkit. Simple and built-in.</a:t>
            </a:r>
            <a:endParaRPr lang="en-US" sz="1750" dirty="0"/>
          </a:p>
        </p:txBody>
      </p:sp>
      <p:sp>
        <p:nvSpPr>
          <p:cNvPr id="7" name="Shape 4"/>
          <p:cNvSpPr/>
          <p:nvPr/>
        </p:nvSpPr>
        <p:spPr>
          <a:xfrm>
            <a:off x="10171867" y="2168843"/>
            <a:ext cx="3664863" cy="1685092"/>
          </a:xfrm>
          <a:prstGeom prst="roundRect">
            <a:avLst>
              <a:gd name="adj" fmla="val 5654"/>
            </a:avLst>
          </a:prstGeom>
          <a:solidFill>
            <a:srgbClr val="E8E8E3"/>
          </a:solidFill>
          <a:ln w="7620">
            <a:solidFill>
              <a:srgbClr val="CECEC9"/>
            </a:solidFill>
            <a:prstDash val="solid"/>
          </a:ln>
        </p:spPr>
      </p:sp>
      <p:sp>
        <p:nvSpPr>
          <p:cNvPr id="8" name="Text 5"/>
          <p:cNvSpPr/>
          <p:nvPr/>
        </p:nvSpPr>
        <p:spPr>
          <a:xfrm>
            <a:off x="10406301" y="240327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Gelasio" pitchFamily="34" charset="0"/>
                <a:ea typeface="Gelasio" pitchFamily="34" charset="-122"/>
                <a:cs typeface="Gelasio" pitchFamily="34" charset="-120"/>
              </a:rPr>
              <a:t>PyQt</a:t>
            </a:r>
            <a:endParaRPr lang="en-US" sz="2200" dirty="0"/>
          </a:p>
        </p:txBody>
      </p:sp>
      <p:sp>
        <p:nvSpPr>
          <p:cNvPr id="9" name="Text 6"/>
          <p:cNvSpPr/>
          <p:nvPr/>
        </p:nvSpPr>
        <p:spPr>
          <a:xfrm>
            <a:off x="10406301" y="2893695"/>
            <a:ext cx="3195995"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Powerful and cross-platform. Extensive widget library.</a:t>
            </a:r>
            <a:endParaRPr lang="en-US" sz="1750" dirty="0"/>
          </a:p>
        </p:txBody>
      </p:sp>
      <p:sp>
        <p:nvSpPr>
          <p:cNvPr id="10" name="Shape 7"/>
          <p:cNvSpPr/>
          <p:nvPr/>
        </p:nvSpPr>
        <p:spPr>
          <a:xfrm>
            <a:off x="6280190" y="4080748"/>
            <a:ext cx="7556421" cy="1322189"/>
          </a:xfrm>
          <a:prstGeom prst="roundRect">
            <a:avLst>
              <a:gd name="adj" fmla="val 7205"/>
            </a:avLst>
          </a:prstGeom>
          <a:solidFill>
            <a:srgbClr val="E8E8E3"/>
          </a:solidFill>
          <a:ln w="7620">
            <a:solidFill>
              <a:srgbClr val="CECEC9"/>
            </a:solidFill>
            <a:prstDash val="solid"/>
          </a:ln>
        </p:spPr>
      </p:sp>
      <p:sp>
        <p:nvSpPr>
          <p:cNvPr id="11" name="Text 8"/>
          <p:cNvSpPr/>
          <p:nvPr/>
        </p:nvSpPr>
        <p:spPr>
          <a:xfrm>
            <a:off x="6514624" y="431518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Gelasio" pitchFamily="34" charset="0"/>
                <a:ea typeface="Gelasio" pitchFamily="34" charset="-122"/>
                <a:cs typeface="Gelasio" pitchFamily="34" charset="-120"/>
              </a:rPr>
              <a:t>Django/Flask (Web)</a:t>
            </a:r>
            <a:endParaRPr lang="en-US" sz="2200" dirty="0"/>
          </a:p>
        </p:txBody>
      </p:sp>
      <p:sp>
        <p:nvSpPr>
          <p:cNvPr id="12" name="Text 9"/>
          <p:cNvSpPr/>
          <p:nvPr/>
        </p:nvSpPr>
        <p:spPr>
          <a:xfrm>
            <a:off x="6514624" y="4805601"/>
            <a:ext cx="7087553"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For web-based interfaces. Flexible and scalable.</a:t>
            </a:r>
            <a:endParaRPr lang="en-US" sz="1750" dirty="0"/>
          </a:p>
        </p:txBody>
      </p:sp>
      <p:sp>
        <p:nvSpPr>
          <p:cNvPr id="13" name="Text 10"/>
          <p:cNvSpPr/>
          <p:nvPr/>
        </p:nvSpPr>
        <p:spPr>
          <a:xfrm>
            <a:off x="6280190" y="5658088"/>
            <a:ext cx="7556421"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The user interface defines the system's accessibility. Tkinter offers a straightforward approach for desktop apps, PyQt provides advanced capabilities, and web frameworks like Django or Flask are perfect for browser-accessible systems.</a:t>
            </a:r>
            <a:endParaRPr lang="en-US" sz="1750" dirty="0"/>
          </a:p>
        </p:txBody>
      </p:sp>
      <p:sp>
        <p:nvSpPr>
          <p:cNvPr id="14" name="Oval 13">
            <a:extLst>
              <a:ext uri="{FF2B5EF4-FFF2-40B4-BE49-F238E27FC236}">
                <a16:creationId xmlns:a16="http://schemas.microsoft.com/office/drawing/2014/main" id="{FC3098BD-7C4B-B738-F65D-D4443E8538BE}"/>
              </a:ext>
            </a:extLst>
          </p:cNvPr>
          <p:cNvSpPr/>
          <p:nvPr/>
        </p:nvSpPr>
        <p:spPr>
          <a:xfrm>
            <a:off x="12656127" y="7465813"/>
            <a:ext cx="1974273" cy="763787"/>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18899" y="566618"/>
            <a:ext cx="6309241" cy="641866"/>
          </a:xfrm>
          <a:prstGeom prst="rect">
            <a:avLst/>
          </a:prstGeom>
          <a:noFill/>
          <a:ln/>
        </p:spPr>
        <p:txBody>
          <a:bodyPr wrap="none" lIns="0" tIns="0" rIns="0" bIns="0" rtlCol="0" anchor="t"/>
          <a:lstStyle/>
          <a:p>
            <a:pPr marL="0" indent="0" algn="l">
              <a:lnSpc>
                <a:spcPts val="5050"/>
              </a:lnSpc>
              <a:buNone/>
            </a:pPr>
            <a:r>
              <a:rPr lang="en-US" sz="4000" dirty="0">
                <a:solidFill>
                  <a:srgbClr val="312F2B"/>
                </a:solidFill>
                <a:latin typeface="Gelasio" pitchFamily="34" charset="0"/>
                <a:ea typeface="Gelasio" pitchFamily="34" charset="-122"/>
                <a:cs typeface="Gelasio" pitchFamily="34" charset="-120"/>
              </a:rPr>
              <a:t>Implementing Key Features</a:t>
            </a:r>
            <a:endParaRPr lang="en-US" sz="4000" dirty="0"/>
          </a:p>
        </p:txBody>
      </p:sp>
      <p:pic>
        <p:nvPicPr>
          <p:cNvPr id="4" name="Image 1" descr="preencoded.png"/>
          <p:cNvPicPr>
            <a:picLocks noChangeAspect="1"/>
          </p:cNvPicPr>
          <p:nvPr/>
        </p:nvPicPr>
        <p:blipFill>
          <a:blip r:embed="rId4"/>
          <a:stretch>
            <a:fillRect/>
          </a:stretch>
        </p:blipFill>
        <p:spPr>
          <a:xfrm>
            <a:off x="718899" y="1516499"/>
            <a:ext cx="1027033" cy="1232416"/>
          </a:xfrm>
          <a:prstGeom prst="rect">
            <a:avLst/>
          </a:prstGeom>
        </p:spPr>
      </p:pic>
      <p:sp>
        <p:nvSpPr>
          <p:cNvPr id="5" name="Text 1"/>
          <p:cNvSpPr/>
          <p:nvPr/>
        </p:nvSpPr>
        <p:spPr>
          <a:xfrm>
            <a:off x="2053947" y="1721882"/>
            <a:ext cx="2572583" cy="320992"/>
          </a:xfrm>
          <a:prstGeom prst="rect">
            <a:avLst/>
          </a:prstGeom>
          <a:noFill/>
          <a:ln/>
        </p:spPr>
        <p:txBody>
          <a:bodyPr wrap="none" lIns="0" tIns="0" rIns="0" bIns="0" rtlCol="0" anchor="t"/>
          <a:lstStyle/>
          <a:p>
            <a:pPr marL="0" indent="0" algn="l">
              <a:lnSpc>
                <a:spcPts val="2500"/>
              </a:lnSpc>
              <a:buNone/>
            </a:pPr>
            <a:r>
              <a:rPr lang="en-US" sz="2000" dirty="0">
                <a:solidFill>
                  <a:srgbClr val="272525"/>
                </a:solidFill>
                <a:latin typeface="Gelasio" pitchFamily="34" charset="0"/>
                <a:ea typeface="Gelasio" pitchFamily="34" charset="-122"/>
                <a:cs typeface="Gelasio" pitchFamily="34" charset="-120"/>
              </a:rPr>
              <a:t>Add/Remove Students</a:t>
            </a:r>
            <a:endParaRPr lang="en-US" sz="2000" dirty="0"/>
          </a:p>
        </p:txBody>
      </p:sp>
      <p:sp>
        <p:nvSpPr>
          <p:cNvPr id="6" name="Text 2"/>
          <p:cNvSpPr/>
          <p:nvPr/>
        </p:nvSpPr>
        <p:spPr>
          <a:xfrm>
            <a:off x="2053947" y="2166104"/>
            <a:ext cx="6371153" cy="328613"/>
          </a:xfrm>
          <a:prstGeom prst="rect">
            <a:avLst/>
          </a:prstGeom>
          <a:noFill/>
          <a:ln/>
        </p:spPr>
        <p:txBody>
          <a:bodyPr wrap="none" lIns="0" tIns="0" rIns="0" bIns="0" rtlCol="0" anchor="t"/>
          <a:lstStyle/>
          <a:p>
            <a:pPr marL="0" indent="0" algn="l">
              <a:lnSpc>
                <a:spcPts val="2550"/>
              </a:lnSpc>
              <a:buNone/>
            </a:pPr>
            <a:r>
              <a:rPr lang="en-US" sz="1600" dirty="0">
                <a:solidFill>
                  <a:srgbClr val="272525"/>
                </a:solidFill>
                <a:latin typeface="Lato" pitchFamily="34" charset="0"/>
                <a:ea typeface="Lato" pitchFamily="34" charset="-122"/>
                <a:cs typeface="Lato" pitchFamily="34" charset="-120"/>
              </a:rPr>
              <a:t>Manage student records.</a:t>
            </a:r>
            <a:endParaRPr lang="en-US" sz="1600" dirty="0"/>
          </a:p>
        </p:txBody>
      </p:sp>
      <p:pic>
        <p:nvPicPr>
          <p:cNvPr id="7" name="Image 2" descr="preencoded.png"/>
          <p:cNvPicPr>
            <a:picLocks noChangeAspect="1"/>
          </p:cNvPicPr>
          <p:nvPr/>
        </p:nvPicPr>
        <p:blipFill>
          <a:blip r:embed="rId5"/>
          <a:stretch>
            <a:fillRect/>
          </a:stretch>
        </p:blipFill>
        <p:spPr>
          <a:xfrm>
            <a:off x="718899" y="2748915"/>
            <a:ext cx="1027033" cy="1232416"/>
          </a:xfrm>
          <a:prstGeom prst="rect">
            <a:avLst/>
          </a:prstGeom>
        </p:spPr>
      </p:pic>
      <p:sp>
        <p:nvSpPr>
          <p:cNvPr id="8" name="Text 3"/>
          <p:cNvSpPr/>
          <p:nvPr/>
        </p:nvSpPr>
        <p:spPr>
          <a:xfrm>
            <a:off x="2053947" y="2954298"/>
            <a:ext cx="2567583" cy="320992"/>
          </a:xfrm>
          <a:prstGeom prst="rect">
            <a:avLst/>
          </a:prstGeom>
          <a:noFill/>
          <a:ln/>
        </p:spPr>
        <p:txBody>
          <a:bodyPr wrap="none" lIns="0" tIns="0" rIns="0" bIns="0" rtlCol="0" anchor="t"/>
          <a:lstStyle/>
          <a:p>
            <a:pPr marL="0" indent="0" algn="l">
              <a:lnSpc>
                <a:spcPts val="2500"/>
              </a:lnSpc>
              <a:buNone/>
            </a:pPr>
            <a:r>
              <a:rPr lang="en-US" sz="2000" dirty="0">
                <a:solidFill>
                  <a:srgbClr val="272525"/>
                </a:solidFill>
                <a:latin typeface="Gelasio" pitchFamily="34" charset="0"/>
                <a:ea typeface="Gelasio" pitchFamily="34" charset="-122"/>
                <a:cs typeface="Gelasio" pitchFamily="34" charset="-120"/>
              </a:rPr>
              <a:t>Enroll in Courses</a:t>
            </a:r>
            <a:endParaRPr lang="en-US" sz="2000" dirty="0"/>
          </a:p>
        </p:txBody>
      </p:sp>
      <p:sp>
        <p:nvSpPr>
          <p:cNvPr id="9" name="Text 4"/>
          <p:cNvSpPr/>
          <p:nvPr/>
        </p:nvSpPr>
        <p:spPr>
          <a:xfrm>
            <a:off x="2053947" y="3398520"/>
            <a:ext cx="6371153" cy="328613"/>
          </a:xfrm>
          <a:prstGeom prst="rect">
            <a:avLst/>
          </a:prstGeom>
          <a:noFill/>
          <a:ln/>
        </p:spPr>
        <p:txBody>
          <a:bodyPr wrap="none" lIns="0" tIns="0" rIns="0" bIns="0" rtlCol="0" anchor="t"/>
          <a:lstStyle/>
          <a:p>
            <a:pPr marL="0" indent="0" algn="l">
              <a:lnSpc>
                <a:spcPts val="2550"/>
              </a:lnSpc>
              <a:buNone/>
            </a:pPr>
            <a:r>
              <a:rPr lang="en-US" sz="1600" dirty="0">
                <a:solidFill>
                  <a:srgbClr val="272525"/>
                </a:solidFill>
                <a:latin typeface="Lato" pitchFamily="34" charset="0"/>
                <a:ea typeface="Lato" pitchFamily="34" charset="-122"/>
                <a:cs typeface="Lato" pitchFamily="34" charset="-120"/>
              </a:rPr>
              <a:t>Assign students to courses.</a:t>
            </a:r>
            <a:endParaRPr lang="en-US" sz="1600" dirty="0"/>
          </a:p>
        </p:txBody>
      </p:sp>
      <p:pic>
        <p:nvPicPr>
          <p:cNvPr id="10" name="Image 3" descr="preencoded.png"/>
          <p:cNvPicPr>
            <a:picLocks noChangeAspect="1"/>
          </p:cNvPicPr>
          <p:nvPr/>
        </p:nvPicPr>
        <p:blipFill>
          <a:blip r:embed="rId6"/>
          <a:stretch>
            <a:fillRect/>
          </a:stretch>
        </p:blipFill>
        <p:spPr>
          <a:xfrm>
            <a:off x="718899" y="3981331"/>
            <a:ext cx="1027033" cy="1232416"/>
          </a:xfrm>
          <a:prstGeom prst="rect">
            <a:avLst/>
          </a:prstGeom>
        </p:spPr>
      </p:pic>
      <p:sp>
        <p:nvSpPr>
          <p:cNvPr id="11" name="Text 5"/>
          <p:cNvSpPr/>
          <p:nvPr/>
        </p:nvSpPr>
        <p:spPr>
          <a:xfrm>
            <a:off x="2053947" y="4186714"/>
            <a:ext cx="2567583" cy="320992"/>
          </a:xfrm>
          <a:prstGeom prst="rect">
            <a:avLst/>
          </a:prstGeom>
          <a:noFill/>
          <a:ln/>
        </p:spPr>
        <p:txBody>
          <a:bodyPr wrap="none" lIns="0" tIns="0" rIns="0" bIns="0" rtlCol="0" anchor="t"/>
          <a:lstStyle/>
          <a:p>
            <a:pPr marL="0" indent="0" algn="l">
              <a:lnSpc>
                <a:spcPts val="2500"/>
              </a:lnSpc>
              <a:buNone/>
            </a:pPr>
            <a:r>
              <a:rPr lang="en-US" sz="2000" dirty="0">
                <a:solidFill>
                  <a:srgbClr val="272525"/>
                </a:solidFill>
                <a:latin typeface="Gelasio" pitchFamily="34" charset="0"/>
                <a:ea typeface="Gelasio" pitchFamily="34" charset="-122"/>
                <a:cs typeface="Gelasio" pitchFamily="34" charset="-120"/>
              </a:rPr>
              <a:t>Record Grades</a:t>
            </a:r>
            <a:endParaRPr lang="en-US" sz="2000" dirty="0"/>
          </a:p>
        </p:txBody>
      </p:sp>
      <p:sp>
        <p:nvSpPr>
          <p:cNvPr id="12" name="Text 6"/>
          <p:cNvSpPr/>
          <p:nvPr/>
        </p:nvSpPr>
        <p:spPr>
          <a:xfrm>
            <a:off x="2053947" y="4630936"/>
            <a:ext cx="6371153" cy="328613"/>
          </a:xfrm>
          <a:prstGeom prst="rect">
            <a:avLst/>
          </a:prstGeom>
          <a:noFill/>
          <a:ln/>
        </p:spPr>
        <p:txBody>
          <a:bodyPr wrap="none" lIns="0" tIns="0" rIns="0" bIns="0" rtlCol="0" anchor="t"/>
          <a:lstStyle/>
          <a:p>
            <a:pPr marL="0" indent="0" algn="l">
              <a:lnSpc>
                <a:spcPts val="2550"/>
              </a:lnSpc>
              <a:buNone/>
            </a:pPr>
            <a:r>
              <a:rPr lang="en-US" sz="1600" dirty="0">
                <a:solidFill>
                  <a:srgbClr val="272525"/>
                </a:solidFill>
                <a:latin typeface="Lato" pitchFamily="34" charset="0"/>
                <a:ea typeface="Lato" pitchFamily="34" charset="-122"/>
                <a:cs typeface="Lato" pitchFamily="34" charset="-120"/>
              </a:rPr>
              <a:t>Update academic performance.</a:t>
            </a:r>
            <a:endParaRPr lang="en-US" sz="1600" dirty="0"/>
          </a:p>
        </p:txBody>
      </p:sp>
      <p:pic>
        <p:nvPicPr>
          <p:cNvPr id="13" name="Image 4" descr="preencoded.png"/>
          <p:cNvPicPr>
            <a:picLocks noChangeAspect="1"/>
          </p:cNvPicPr>
          <p:nvPr/>
        </p:nvPicPr>
        <p:blipFill>
          <a:blip r:embed="rId7"/>
          <a:stretch>
            <a:fillRect/>
          </a:stretch>
        </p:blipFill>
        <p:spPr>
          <a:xfrm>
            <a:off x="718899" y="5213747"/>
            <a:ext cx="1027033" cy="1232416"/>
          </a:xfrm>
          <a:prstGeom prst="rect">
            <a:avLst/>
          </a:prstGeom>
        </p:spPr>
      </p:pic>
      <p:sp>
        <p:nvSpPr>
          <p:cNvPr id="14" name="Text 7"/>
          <p:cNvSpPr/>
          <p:nvPr/>
        </p:nvSpPr>
        <p:spPr>
          <a:xfrm>
            <a:off x="2053947" y="5419130"/>
            <a:ext cx="2567583" cy="320992"/>
          </a:xfrm>
          <a:prstGeom prst="rect">
            <a:avLst/>
          </a:prstGeom>
          <a:noFill/>
          <a:ln/>
        </p:spPr>
        <p:txBody>
          <a:bodyPr wrap="none" lIns="0" tIns="0" rIns="0" bIns="0" rtlCol="0" anchor="t"/>
          <a:lstStyle/>
          <a:p>
            <a:pPr marL="0" indent="0" algn="l">
              <a:lnSpc>
                <a:spcPts val="2500"/>
              </a:lnSpc>
              <a:buNone/>
            </a:pPr>
            <a:r>
              <a:rPr lang="en-US" sz="2000" dirty="0">
                <a:solidFill>
                  <a:srgbClr val="272525"/>
                </a:solidFill>
                <a:latin typeface="Gelasio" pitchFamily="34" charset="0"/>
                <a:ea typeface="Gelasio" pitchFamily="34" charset="-122"/>
                <a:cs typeface="Gelasio" pitchFamily="34" charset="-120"/>
              </a:rPr>
              <a:t>Generate Reports</a:t>
            </a:r>
            <a:endParaRPr lang="en-US" sz="2000" dirty="0"/>
          </a:p>
        </p:txBody>
      </p:sp>
      <p:sp>
        <p:nvSpPr>
          <p:cNvPr id="15" name="Text 8"/>
          <p:cNvSpPr/>
          <p:nvPr/>
        </p:nvSpPr>
        <p:spPr>
          <a:xfrm>
            <a:off x="2053947" y="5863352"/>
            <a:ext cx="6371153" cy="328613"/>
          </a:xfrm>
          <a:prstGeom prst="rect">
            <a:avLst/>
          </a:prstGeom>
          <a:noFill/>
          <a:ln/>
        </p:spPr>
        <p:txBody>
          <a:bodyPr wrap="none" lIns="0" tIns="0" rIns="0" bIns="0" rtlCol="0" anchor="t"/>
          <a:lstStyle/>
          <a:p>
            <a:pPr marL="0" indent="0" algn="l">
              <a:lnSpc>
                <a:spcPts val="2550"/>
              </a:lnSpc>
              <a:buNone/>
            </a:pPr>
            <a:r>
              <a:rPr lang="en-US" sz="1600" dirty="0">
                <a:solidFill>
                  <a:srgbClr val="272525"/>
                </a:solidFill>
                <a:latin typeface="Lato" pitchFamily="34" charset="0"/>
                <a:ea typeface="Lato" pitchFamily="34" charset="-122"/>
                <a:cs typeface="Lato" pitchFamily="34" charset="-120"/>
              </a:rPr>
              <a:t>Retrieve data for analysis.</a:t>
            </a:r>
            <a:endParaRPr lang="en-US" sz="1600" dirty="0"/>
          </a:p>
        </p:txBody>
      </p:sp>
      <p:sp>
        <p:nvSpPr>
          <p:cNvPr id="16" name="Text 9"/>
          <p:cNvSpPr/>
          <p:nvPr/>
        </p:nvSpPr>
        <p:spPr>
          <a:xfrm>
            <a:off x="718899" y="6677144"/>
            <a:ext cx="7706201" cy="985837"/>
          </a:xfrm>
          <a:prstGeom prst="rect">
            <a:avLst/>
          </a:prstGeom>
          <a:noFill/>
          <a:ln/>
        </p:spPr>
        <p:txBody>
          <a:bodyPr wrap="square" lIns="0" tIns="0" rIns="0" bIns="0" rtlCol="0" anchor="t"/>
          <a:lstStyle/>
          <a:p>
            <a:pPr marL="0" indent="0" algn="l">
              <a:lnSpc>
                <a:spcPts val="2550"/>
              </a:lnSpc>
              <a:buNone/>
            </a:pPr>
            <a:r>
              <a:rPr lang="en-US" sz="1600" dirty="0">
                <a:solidFill>
                  <a:srgbClr val="272525"/>
                </a:solidFill>
                <a:latin typeface="Lato" pitchFamily="34" charset="0"/>
                <a:ea typeface="Lato" pitchFamily="34" charset="-122"/>
                <a:cs typeface="Lato" pitchFamily="34" charset="-120"/>
              </a:rPr>
              <a:t>Key features include adding and removing student records, enrolling students in courses, recording and updating grades, and generating comprehensive reports. These functions form the backbone of any effective student management system.</a:t>
            </a:r>
            <a:endParaRPr lang="en-US" sz="1600" dirty="0"/>
          </a:p>
        </p:txBody>
      </p:sp>
      <p:sp>
        <p:nvSpPr>
          <p:cNvPr id="17" name="Oval 16">
            <a:extLst>
              <a:ext uri="{FF2B5EF4-FFF2-40B4-BE49-F238E27FC236}">
                <a16:creationId xmlns:a16="http://schemas.microsoft.com/office/drawing/2014/main" id="{D0016E92-750A-09C9-84EB-30DD8AF182F3}"/>
              </a:ext>
            </a:extLst>
          </p:cNvPr>
          <p:cNvSpPr/>
          <p:nvPr/>
        </p:nvSpPr>
        <p:spPr>
          <a:xfrm>
            <a:off x="12656127" y="7465813"/>
            <a:ext cx="1974273" cy="763787"/>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76143" y="453628"/>
            <a:ext cx="4319826" cy="514469"/>
          </a:xfrm>
          <a:prstGeom prst="rect">
            <a:avLst/>
          </a:prstGeom>
          <a:noFill/>
          <a:ln/>
        </p:spPr>
        <p:txBody>
          <a:bodyPr wrap="none" lIns="0" tIns="0" rIns="0" bIns="0" rtlCol="0" anchor="t"/>
          <a:lstStyle/>
          <a:p>
            <a:pPr marL="0" indent="0" algn="l">
              <a:lnSpc>
                <a:spcPts val="4050"/>
              </a:lnSpc>
              <a:buNone/>
            </a:pPr>
            <a:r>
              <a:rPr lang="en-US" sz="3200" dirty="0">
                <a:solidFill>
                  <a:srgbClr val="312F2B"/>
                </a:solidFill>
                <a:latin typeface="Gelasio" pitchFamily="34" charset="0"/>
                <a:ea typeface="Gelasio" pitchFamily="34" charset="-122"/>
                <a:cs typeface="Gelasio" pitchFamily="34" charset="-120"/>
              </a:rPr>
              <a:t>Development Workflow</a:t>
            </a:r>
            <a:endParaRPr lang="en-US" sz="3200" dirty="0"/>
          </a:p>
        </p:txBody>
      </p:sp>
      <p:sp>
        <p:nvSpPr>
          <p:cNvPr id="3" name="Shape 1"/>
          <p:cNvSpPr/>
          <p:nvPr/>
        </p:nvSpPr>
        <p:spPr>
          <a:xfrm>
            <a:off x="7303770" y="1297305"/>
            <a:ext cx="22860" cy="5766792"/>
          </a:xfrm>
          <a:prstGeom prst="roundRect">
            <a:avLst>
              <a:gd name="adj" fmla="val 302476"/>
            </a:avLst>
          </a:prstGeom>
          <a:solidFill>
            <a:srgbClr val="CECEC9"/>
          </a:solidFill>
          <a:ln/>
        </p:spPr>
      </p:sp>
      <p:sp>
        <p:nvSpPr>
          <p:cNvPr id="4" name="Shape 2"/>
          <p:cNvSpPr/>
          <p:nvPr/>
        </p:nvSpPr>
        <p:spPr>
          <a:xfrm>
            <a:off x="6658987" y="1471017"/>
            <a:ext cx="493871" cy="22860"/>
          </a:xfrm>
          <a:prstGeom prst="roundRect">
            <a:avLst>
              <a:gd name="adj" fmla="val 302476"/>
            </a:avLst>
          </a:prstGeom>
          <a:solidFill>
            <a:srgbClr val="CECEC9"/>
          </a:solidFill>
          <a:ln/>
        </p:spPr>
      </p:sp>
      <p:sp>
        <p:nvSpPr>
          <p:cNvPr id="5" name="Shape 3"/>
          <p:cNvSpPr/>
          <p:nvPr/>
        </p:nvSpPr>
        <p:spPr>
          <a:xfrm>
            <a:off x="7129998" y="1297305"/>
            <a:ext cx="370403" cy="370403"/>
          </a:xfrm>
          <a:prstGeom prst="roundRect">
            <a:avLst>
              <a:gd name="adj" fmla="val 18668"/>
            </a:avLst>
          </a:prstGeom>
          <a:solidFill>
            <a:srgbClr val="E8E8E3"/>
          </a:solidFill>
          <a:ln w="7620">
            <a:solidFill>
              <a:srgbClr val="CECEC9"/>
            </a:solidFill>
            <a:prstDash val="solid"/>
          </a:ln>
        </p:spPr>
      </p:sp>
      <p:sp>
        <p:nvSpPr>
          <p:cNvPr id="6" name="Text 4"/>
          <p:cNvSpPr/>
          <p:nvPr/>
        </p:nvSpPr>
        <p:spPr>
          <a:xfrm>
            <a:off x="7191673" y="1328142"/>
            <a:ext cx="246936" cy="308610"/>
          </a:xfrm>
          <a:prstGeom prst="rect">
            <a:avLst/>
          </a:prstGeom>
          <a:noFill/>
          <a:ln/>
        </p:spPr>
        <p:txBody>
          <a:bodyPr wrap="none" lIns="0" tIns="0" rIns="0" bIns="0" rtlCol="0" anchor="t"/>
          <a:lstStyle/>
          <a:p>
            <a:pPr marL="0" indent="0" algn="ctr">
              <a:lnSpc>
                <a:spcPts val="1900"/>
              </a:lnSpc>
              <a:buNone/>
            </a:pPr>
            <a:r>
              <a:rPr lang="en-US" sz="1900" dirty="0">
                <a:solidFill>
                  <a:srgbClr val="272525"/>
                </a:solidFill>
                <a:latin typeface="Gelasio" pitchFamily="34" charset="0"/>
                <a:ea typeface="Gelasio" pitchFamily="34" charset="-122"/>
                <a:cs typeface="Gelasio" pitchFamily="34" charset="-120"/>
              </a:rPr>
              <a:t>1</a:t>
            </a:r>
            <a:endParaRPr lang="en-US" sz="1900" dirty="0"/>
          </a:p>
        </p:txBody>
      </p:sp>
      <p:sp>
        <p:nvSpPr>
          <p:cNvPr id="7" name="Text 5"/>
          <p:cNvSpPr/>
          <p:nvPr/>
        </p:nvSpPr>
        <p:spPr>
          <a:xfrm>
            <a:off x="4434245" y="1353860"/>
            <a:ext cx="2057876" cy="257175"/>
          </a:xfrm>
          <a:prstGeom prst="rect">
            <a:avLst/>
          </a:prstGeom>
          <a:noFill/>
          <a:ln/>
        </p:spPr>
        <p:txBody>
          <a:bodyPr wrap="none" lIns="0" tIns="0" rIns="0" bIns="0" rtlCol="0" anchor="t"/>
          <a:lstStyle/>
          <a:p>
            <a:pPr marL="0" indent="0" algn="r">
              <a:lnSpc>
                <a:spcPts val="2000"/>
              </a:lnSpc>
              <a:buNone/>
            </a:pPr>
            <a:r>
              <a:rPr lang="en-US" sz="1600" dirty="0">
                <a:solidFill>
                  <a:srgbClr val="272525"/>
                </a:solidFill>
                <a:latin typeface="Gelasio" pitchFamily="34" charset="0"/>
                <a:ea typeface="Gelasio" pitchFamily="34" charset="-122"/>
                <a:cs typeface="Gelasio" pitchFamily="34" charset="-120"/>
              </a:rPr>
              <a:t>Plan &amp; Design</a:t>
            </a:r>
            <a:endParaRPr lang="en-US" sz="1600" dirty="0"/>
          </a:p>
        </p:txBody>
      </p:sp>
      <p:sp>
        <p:nvSpPr>
          <p:cNvPr id="8" name="Text 6"/>
          <p:cNvSpPr/>
          <p:nvPr/>
        </p:nvSpPr>
        <p:spPr>
          <a:xfrm>
            <a:off x="576143" y="1709738"/>
            <a:ext cx="5915978" cy="263366"/>
          </a:xfrm>
          <a:prstGeom prst="rect">
            <a:avLst/>
          </a:prstGeom>
          <a:noFill/>
          <a:ln/>
        </p:spPr>
        <p:txBody>
          <a:bodyPr wrap="none" lIns="0" tIns="0" rIns="0" bIns="0" rtlCol="0" anchor="t"/>
          <a:lstStyle/>
          <a:p>
            <a:pPr marL="0" indent="0" algn="r">
              <a:lnSpc>
                <a:spcPts val="2050"/>
              </a:lnSpc>
              <a:buNone/>
            </a:pPr>
            <a:r>
              <a:rPr lang="en-US" sz="1250" dirty="0">
                <a:solidFill>
                  <a:srgbClr val="272525"/>
                </a:solidFill>
                <a:latin typeface="Lato" pitchFamily="34" charset="0"/>
                <a:ea typeface="Lato" pitchFamily="34" charset="-122"/>
                <a:cs typeface="Lato" pitchFamily="34" charset="-120"/>
              </a:rPr>
              <a:t>Outline system architecture.</a:t>
            </a:r>
            <a:endParaRPr lang="en-US" sz="1250" dirty="0"/>
          </a:p>
        </p:txBody>
      </p:sp>
      <p:sp>
        <p:nvSpPr>
          <p:cNvPr id="9" name="Shape 7"/>
          <p:cNvSpPr/>
          <p:nvPr/>
        </p:nvSpPr>
        <p:spPr>
          <a:xfrm>
            <a:off x="7477542" y="2458641"/>
            <a:ext cx="493871" cy="22860"/>
          </a:xfrm>
          <a:prstGeom prst="roundRect">
            <a:avLst>
              <a:gd name="adj" fmla="val 302476"/>
            </a:avLst>
          </a:prstGeom>
          <a:solidFill>
            <a:srgbClr val="CECEC9"/>
          </a:solidFill>
          <a:ln/>
        </p:spPr>
      </p:sp>
      <p:sp>
        <p:nvSpPr>
          <p:cNvPr id="10" name="Shape 8"/>
          <p:cNvSpPr/>
          <p:nvPr/>
        </p:nvSpPr>
        <p:spPr>
          <a:xfrm>
            <a:off x="7129998" y="2284928"/>
            <a:ext cx="370403" cy="370403"/>
          </a:xfrm>
          <a:prstGeom prst="roundRect">
            <a:avLst>
              <a:gd name="adj" fmla="val 18668"/>
            </a:avLst>
          </a:prstGeom>
          <a:solidFill>
            <a:srgbClr val="E8E8E3"/>
          </a:solidFill>
          <a:ln w="7620">
            <a:solidFill>
              <a:srgbClr val="CECEC9"/>
            </a:solidFill>
            <a:prstDash val="solid"/>
          </a:ln>
        </p:spPr>
      </p:sp>
      <p:sp>
        <p:nvSpPr>
          <p:cNvPr id="11" name="Text 9"/>
          <p:cNvSpPr/>
          <p:nvPr/>
        </p:nvSpPr>
        <p:spPr>
          <a:xfrm>
            <a:off x="7191673" y="2315766"/>
            <a:ext cx="246936" cy="308610"/>
          </a:xfrm>
          <a:prstGeom prst="rect">
            <a:avLst/>
          </a:prstGeom>
          <a:noFill/>
          <a:ln/>
        </p:spPr>
        <p:txBody>
          <a:bodyPr wrap="none" lIns="0" tIns="0" rIns="0" bIns="0" rtlCol="0" anchor="t"/>
          <a:lstStyle/>
          <a:p>
            <a:pPr marL="0" indent="0" algn="ctr">
              <a:lnSpc>
                <a:spcPts val="1900"/>
              </a:lnSpc>
              <a:buNone/>
            </a:pPr>
            <a:r>
              <a:rPr lang="en-US" sz="1900" dirty="0">
                <a:solidFill>
                  <a:srgbClr val="272525"/>
                </a:solidFill>
                <a:latin typeface="Gelasio" pitchFamily="34" charset="0"/>
                <a:ea typeface="Gelasio" pitchFamily="34" charset="-122"/>
                <a:cs typeface="Gelasio" pitchFamily="34" charset="-120"/>
              </a:rPr>
              <a:t>2</a:t>
            </a:r>
            <a:endParaRPr lang="en-US" sz="1900" dirty="0"/>
          </a:p>
        </p:txBody>
      </p:sp>
      <p:sp>
        <p:nvSpPr>
          <p:cNvPr id="12" name="Text 10"/>
          <p:cNvSpPr/>
          <p:nvPr/>
        </p:nvSpPr>
        <p:spPr>
          <a:xfrm>
            <a:off x="8138279" y="2341483"/>
            <a:ext cx="2057876" cy="257175"/>
          </a:xfrm>
          <a:prstGeom prst="rect">
            <a:avLst/>
          </a:prstGeom>
          <a:noFill/>
          <a:ln/>
        </p:spPr>
        <p:txBody>
          <a:bodyPr wrap="none" lIns="0" tIns="0" rIns="0" bIns="0" rtlCol="0" anchor="t"/>
          <a:lstStyle/>
          <a:p>
            <a:pPr marL="0" indent="0" algn="l">
              <a:lnSpc>
                <a:spcPts val="2000"/>
              </a:lnSpc>
              <a:buNone/>
            </a:pPr>
            <a:r>
              <a:rPr lang="en-US" sz="1600" dirty="0">
                <a:solidFill>
                  <a:srgbClr val="272525"/>
                </a:solidFill>
                <a:latin typeface="Gelasio" pitchFamily="34" charset="0"/>
                <a:ea typeface="Gelasio" pitchFamily="34" charset="-122"/>
                <a:cs typeface="Gelasio" pitchFamily="34" charset="-120"/>
              </a:rPr>
              <a:t>Database Setup</a:t>
            </a:r>
            <a:endParaRPr lang="en-US" sz="1600" dirty="0"/>
          </a:p>
        </p:txBody>
      </p:sp>
      <p:sp>
        <p:nvSpPr>
          <p:cNvPr id="13" name="Text 11"/>
          <p:cNvSpPr/>
          <p:nvPr/>
        </p:nvSpPr>
        <p:spPr>
          <a:xfrm>
            <a:off x="8138279" y="2697361"/>
            <a:ext cx="5915978" cy="263366"/>
          </a:xfrm>
          <a:prstGeom prst="rect">
            <a:avLst/>
          </a:prstGeom>
          <a:noFill/>
          <a:ln/>
        </p:spPr>
        <p:txBody>
          <a:bodyPr wrap="none" lIns="0" tIns="0" rIns="0" bIns="0" rtlCol="0" anchor="t"/>
          <a:lstStyle/>
          <a:p>
            <a:pPr marL="0" indent="0" algn="l">
              <a:lnSpc>
                <a:spcPts val="2050"/>
              </a:lnSpc>
              <a:buNone/>
            </a:pPr>
            <a:r>
              <a:rPr lang="en-US" sz="1250" dirty="0">
                <a:solidFill>
                  <a:srgbClr val="272525"/>
                </a:solidFill>
                <a:latin typeface="Lato" pitchFamily="34" charset="0"/>
                <a:ea typeface="Lato" pitchFamily="34" charset="-122"/>
                <a:cs typeface="Lato" pitchFamily="34" charset="-120"/>
              </a:rPr>
              <a:t>Create schema and tables.</a:t>
            </a:r>
            <a:endParaRPr lang="en-US" sz="1250" dirty="0"/>
          </a:p>
        </p:txBody>
      </p:sp>
      <p:sp>
        <p:nvSpPr>
          <p:cNvPr id="14" name="Shape 12"/>
          <p:cNvSpPr/>
          <p:nvPr/>
        </p:nvSpPr>
        <p:spPr>
          <a:xfrm>
            <a:off x="6658987" y="3309938"/>
            <a:ext cx="493871" cy="22860"/>
          </a:xfrm>
          <a:prstGeom prst="roundRect">
            <a:avLst>
              <a:gd name="adj" fmla="val 302476"/>
            </a:avLst>
          </a:prstGeom>
          <a:solidFill>
            <a:srgbClr val="CECEC9"/>
          </a:solidFill>
          <a:ln/>
        </p:spPr>
      </p:sp>
      <p:sp>
        <p:nvSpPr>
          <p:cNvPr id="15" name="Shape 13"/>
          <p:cNvSpPr/>
          <p:nvPr/>
        </p:nvSpPr>
        <p:spPr>
          <a:xfrm>
            <a:off x="7129998" y="3136225"/>
            <a:ext cx="370403" cy="370403"/>
          </a:xfrm>
          <a:prstGeom prst="roundRect">
            <a:avLst>
              <a:gd name="adj" fmla="val 18668"/>
            </a:avLst>
          </a:prstGeom>
          <a:solidFill>
            <a:srgbClr val="E8E8E3"/>
          </a:solidFill>
          <a:ln w="7620">
            <a:solidFill>
              <a:srgbClr val="CECEC9"/>
            </a:solidFill>
            <a:prstDash val="solid"/>
          </a:ln>
        </p:spPr>
      </p:sp>
      <p:sp>
        <p:nvSpPr>
          <p:cNvPr id="16" name="Text 14"/>
          <p:cNvSpPr/>
          <p:nvPr/>
        </p:nvSpPr>
        <p:spPr>
          <a:xfrm>
            <a:off x="7191673" y="3167063"/>
            <a:ext cx="246936" cy="308610"/>
          </a:xfrm>
          <a:prstGeom prst="rect">
            <a:avLst/>
          </a:prstGeom>
          <a:noFill/>
          <a:ln/>
        </p:spPr>
        <p:txBody>
          <a:bodyPr wrap="none" lIns="0" tIns="0" rIns="0" bIns="0" rtlCol="0" anchor="t"/>
          <a:lstStyle/>
          <a:p>
            <a:pPr marL="0" indent="0" algn="ctr">
              <a:lnSpc>
                <a:spcPts val="1900"/>
              </a:lnSpc>
              <a:buNone/>
            </a:pPr>
            <a:r>
              <a:rPr lang="en-US" sz="1900" dirty="0">
                <a:solidFill>
                  <a:srgbClr val="272525"/>
                </a:solidFill>
                <a:latin typeface="Gelasio" pitchFamily="34" charset="0"/>
                <a:ea typeface="Gelasio" pitchFamily="34" charset="-122"/>
                <a:cs typeface="Gelasio" pitchFamily="34" charset="-120"/>
              </a:rPr>
              <a:t>3</a:t>
            </a:r>
            <a:endParaRPr lang="en-US" sz="1900" dirty="0"/>
          </a:p>
        </p:txBody>
      </p:sp>
      <p:sp>
        <p:nvSpPr>
          <p:cNvPr id="17" name="Text 15"/>
          <p:cNvSpPr/>
          <p:nvPr/>
        </p:nvSpPr>
        <p:spPr>
          <a:xfrm>
            <a:off x="4434245" y="3192780"/>
            <a:ext cx="2057876" cy="257175"/>
          </a:xfrm>
          <a:prstGeom prst="rect">
            <a:avLst/>
          </a:prstGeom>
          <a:noFill/>
          <a:ln/>
        </p:spPr>
        <p:txBody>
          <a:bodyPr wrap="none" lIns="0" tIns="0" rIns="0" bIns="0" rtlCol="0" anchor="t"/>
          <a:lstStyle/>
          <a:p>
            <a:pPr marL="0" indent="0" algn="r">
              <a:lnSpc>
                <a:spcPts val="2000"/>
              </a:lnSpc>
              <a:buNone/>
            </a:pPr>
            <a:r>
              <a:rPr lang="en-US" sz="1600" dirty="0">
                <a:solidFill>
                  <a:srgbClr val="272525"/>
                </a:solidFill>
                <a:latin typeface="Gelasio" pitchFamily="34" charset="0"/>
                <a:ea typeface="Gelasio" pitchFamily="34" charset="-122"/>
                <a:cs typeface="Gelasio" pitchFamily="34" charset="-120"/>
              </a:rPr>
              <a:t>Build Backend</a:t>
            </a:r>
            <a:endParaRPr lang="en-US" sz="1600" dirty="0"/>
          </a:p>
        </p:txBody>
      </p:sp>
      <p:sp>
        <p:nvSpPr>
          <p:cNvPr id="18" name="Text 16"/>
          <p:cNvSpPr/>
          <p:nvPr/>
        </p:nvSpPr>
        <p:spPr>
          <a:xfrm>
            <a:off x="576143" y="3548658"/>
            <a:ext cx="5915978" cy="263366"/>
          </a:xfrm>
          <a:prstGeom prst="rect">
            <a:avLst/>
          </a:prstGeom>
          <a:noFill/>
          <a:ln/>
        </p:spPr>
        <p:txBody>
          <a:bodyPr wrap="none" lIns="0" tIns="0" rIns="0" bIns="0" rtlCol="0" anchor="t"/>
          <a:lstStyle/>
          <a:p>
            <a:pPr marL="0" indent="0" algn="r">
              <a:lnSpc>
                <a:spcPts val="2050"/>
              </a:lnSpc>
              <a:buNone/>
            </a:pPr>
            <a:r>
              <a:rPr lang="en-US" sz="1250" dirty="0">
                <a:solidFill>
                  <a:srgbClr val="272525"/>
                </a:solidFill>
                <a:latin typeface="Lato" pitchFamily="34" charset="0"/>
                <a:ea typeface="Lato" pitchFamily="34" charset="-122"/>
                <a:cs typeface="Lato" pitchFamily="34" charset="-120"/>
              </a:rPr>
              <a:t>Develop core logic.</a:t>
            </a:r>
            <a:endParaRPr lang="en-US" sz="1250" dirty="0"/>
          </a:p>
        </p:txBody>
      </p:sp>
      <p:sp>
        <p:nvSpPr>
          <p:cNvPr id="19" name="Shape 17"/>
          <p:cNvSpPr/>
          <p:nvPr/>
        </p:nvSpPr>
        <p:spPr>
          <a:xfrm>
            <a:off x="7477542" y="4161353"/>
            <a:ext cx="493871" cy="22860"/>
          </a:xfrm>
          <a:prstGeom prst="roundRect">
            <a:avLst>
              <a:gd name="adj" fmla="val 302476"/>
            </a:avLst>
          </a:prstGeom>
          <a:solidFill>
            <a:srgbClr val="CECEC9"/>
          </a:solidFill>
          <a:ln/>
        </p:spPr>
      </p:sp>
      <p:sp>
        <p:nvSpPr>
          <p:cNvPr id="20" name="Shape 18"/>
          <p:cNvSpPr/>
          <p:nvPr/>
        </p:nvSpPr>
        <p:spPr>
          <a:xfrm>
            <a:off x="7129998" y="3987641"/>
            <a:ext cx="370403" cy="370403"/>
          </a:xfrm>
          <a:prstGeom prst="roundRect">
            <a:avLst>
              <a:gd name="adj" fmla="val 18668"/>
            </a:avLst>
          </a:prstGeom>
          <a:solidFill>
            <a:srgbClr val="E8E8E3"/>
          </a:solidFill>
          <a:ln w="7620">
            <a:solidFill>
              <a:srgbClr val="CECEC9"/>
            </a:solidFill>
            <a:prstDash val="solid"/>
          </a:ln>
        </p:spPr>
      </p:sp>
      <p:sp>
        <p:nvSpPr>
          <p:cNvPr id="21" name="Text 19"/>
          <p:cNvSpPr/>
          <p:nvPr/>
        </p:nvSpPr>
        <p:spPr>
          <a:xfrm>
            <a:off x="7191673" y="4018478"/>
            <a:ext cx="246936" cy="308610"/>
          </a:xfrm>
          <a:prstGeom prst="rect">
            <a:avLst/>
          </a:prstGeom>
          <a:noFill/>
          <a:ln/>
        </p:spPr>
        <p:txBody>
          <a:bodyPr wrap="none" lIns="0" tIns="0" rIns="0" bIns="0" rtlCol="0" anchor="t"/>
          <a:lstStyle/>
          <a:p>
            <a:pPr marL="0" indent="0" algn="ctr">
              <a:lnSpc>
                <a:spcPts val="1900"/>
              </a:lnSpc>
              <a:buNone/>
            </a:pPr>
            <a:r>
              <a:rPr lang="en-US" sz="1900" dirty="0">
                <a:solidFill>
                  <a:srgbClr val="272525"/>
                </a:solidFill>
                <a:latin typeface="Gelasio" pitchFamily="34" charset="0"/>
                <a:ea typeface="Gelasio" pitchFamily="34" charset="-122"/>
                <a:cs typeface="Gelasio" pitchFamily="34" charset="-120"/>
              </a:rPr>
              <a:t>4</a:t>
            </a:r>
            <a:endParaRPr lang="en-US" sz="1900" dirty="0"/>
          </a:p>
        </p:txBody>
      </p:sp>
      <p:sp>
        <p:nvSpPr>
          <p:cNvPr id="22" name="Text 20"/>
          <p:cNvSpPr/>
          <p:nvPr/>
        </p:nvSpPr>
        <p:spPr>
          <a:xfrm>
            <a:off x="8138279" y="4044196"/>
            <a:ext cx="2057876" cy="257175"/>
          </a:xfrm>
          <a:prstGeom prst="rect">
            <a:avLst/>
          </a:prstGeom>
          <a:noFill/>
          <a:ln/>
        </p:spPr>
        <p:txBody>
          <a:bodyPr wrap="none" lIns="0" tIns="0" rIns="0" bIns="0" rtlCol="0" anchor="t"/>
          <a:lstStyle/>
          <a:p>
            <a:pPr marL="0" indent="0" algn="l">
              <a:lnSpc>
                <a:spcPts val="2000"/>
              </a:lnSpc>
              <a:buNone/>
            </a:pPr>
            <a:r>
              <a:rPr lang="en-US" sz="1600" dirty="0">
                <a:solidFill>
                  <a:srgbClr val="272525"/>
                </a:solidFill>
                <a:latin typeface="Gelasio" pitchFamily="34" charset="0"/>
                <a:ea typeface="Gelasio" pitchFamily="34" charset="-122"/>
                <a:cs typeface="Gelasio" pitchFamily="34" charset="-120"/>
              </a:rPr>
              <a:t>UI Development</a:t>
            </a:r>
            <a:endParaRPr lang="en-US" sz="1600" dirty="0"/>
          </a:p>
        </p:txBody>
      </p:sp>
      <p:sp>
        <p:nvSpPr>
          <p:cNvPr id="23" name="Text 21"/>
          <p:cNvSpPr/>
          <p:nvPr/>
        </p:nvSpPr>
        <p:spPr>
          <a:xfrm>
            <a:off x="8138279" y="4400074"/>
            <a:ext cx="5915978" cy="263366"/>
          </a:xfrm>
          <a:prstGeom prst="rect">
            <a:avLst/>
          </a:prstGeom>
          <a:noFill/>
          <a:ln/>
        </p:spPr>
        <p:txBody>
          <a:bodyPr wrap="none" lIns="0" tIns="0" rIns="0" bIns="0" rtlCol="0" anchor="t"/>
          <a:lstStyle/>
          <a:p>
            <a:pPr marL="0" indent="0" algn="l">
              <a:lnSpc>
                <a:spcPts val="2050"/>
              </a:lnSpc>
              <a:buNone/>
            </a:pPr>
            <a:r>
              <a:rPr lang="en-US" sz="1250" dirty="0">
                <a:solidFill>
                  <a:srgbClr val="272525"/>
                </a:solidFill>
                <a:latin typeface="Lato" pitchFamily="34" charset="0"/>
                <a:ea typeface="Lato" pitchFamily="34" charset="-122"/>
                <a:cs typeface="Lato" pitchFamily="34" charset="-120"/>
              </a:rPr>
              <a:t>Design user interactions.</a:t>
            </a:r>
            <a:endParaRPr lang="en-US" sz="1250" dirty="0"/>
          </a:p>
        </p:txBody>
      </p:sp>
      <p:sp>
        <p:nvSpPr>
          <p:cNvPr id="24" name="Shape 22"/>
          <p:cNvSpPr/>
          <p:nvPr/>
        </p:nvSpPr>
        <p:spPr>
          <a:xfrm>
            <a:off x="6658987" y="5012769"/>
            <a:ext cx="493871" cy="22860"/>
          </a:xfrm>
          <a:prstGeom prst="roundRect">
            <a:avLst>
              <a:gd name="adj" fmla="val 302476"/>
            </a:avLst>
          </a:prstGeom>
          <a:solidFill>
            <a:srgbClr val="CECEC9"/>
          </a:solidFill>
          <a:ln/>
        </p:spPr>
      </p:sp>
      <p:sp>
        <p:nvSpPr>
          <p:cNvPr id="25" name="Shape 23"/>
          <p:cNvSpPr/>
          <p:nvPr/>
        </p:nvSpPr>
        <p:spPr>
          <a:xfrm>
            <a:off x="7129998" y="4839057"/>
            <a:ext cx="370403" cy="370403"/>
          </a:xfrm>
          <a:prstGeom prst="roundRect">
            <a:avLst>
              <a:gd name="adj" fmla="val 18668"/>
            </a:avLst>
          </a:prstGeom>
          <a:solidFill>
            <a:srgbClr val="E8E8E3"/>
          </a:solidFill>
          <a:ln w="7620">
            <a:solidFill>
              <a:srgbClr val="CECEC9"/>
            </a:solidFill>
            <a:prstDash val="solid"/>
          </a:ln>
        </p:spPr>
      </p:sp>
      <p:sp>
        <p:nvSpPr>
          <p:cNvPr id="26" name="Text 24"/>
          <p:cNvSpPr/>
          <p:nvPr/>
        </p:nvSpPr>
        <p:spPr>
          <a:xfrm>
            <a:off x="7191673" y="4869894"/>
            <a:ext cx="246936" cy="308610"/>
          </a:xfrm>
          <a:prstGeom prst="rect">
            <a:avLst/>
          </a:prstGeom>
          <a:noFill/>
          <a:ln/>
        </p:spPr>
        <p:txBody>
          <a:bodyPr wrap="none" lIns="0" tIns="0" rIns="0" bIns="0" rtlCol="0" anchor="t"/>
          <a:lstStyle/>
          <a:p>
            <a:pPr marL="0" indent="0" algn="ctr">
              <a:lnSpc>
                <a:spcPts val="1900"/>
              </a:lnSpc>
              <a:buNone/>
            </a:pPr>
            <a:r>
              <a:rPr lang="en-US" sz="1900" dirty="0">
                <a:solidFill>
                  <a:srgbClr val="272525"/>
                </a:solidFill>
                <a:latin typeface="Gelasio" pitchFamily="34" charset="0"/>
                <a:ea typeface="Gelasio" pitchFamily="34" charset="-122"/>
                <a:cs typeface="Gelasio" pitchFamily="34" charset="-120"/>
              </a:rPr>
              <a:t>5</a:t>
            </a:r>
            <a:endParaRPr lang="en-US" sz="1900" dirty="0"/>
          </a:p>
        </p:txBody>
      </p:sp>
      <p:sp>
        <p:nvSpPr>
          <p:cNvPr id="27" name="Text 25"/>
          <p:cNvSpPr/>
          <p:nvPr/>
        </p:nvSpPr>
        <p:spPr>
          <a:xfrm>
            <a:off x="4434245" y="4895612"/>
            <a:ext cx="2057876" cy="257175"/>
          </a:xfrm>
          <a:prstGeom prst="rect">
            <a:avLst/>
          </a:prstGeom>
          <a:noFill/>
          <a:ln/>
        </p:spPr>
        <p:txBody>
          <a:bodyPr wrap="none" lIns="0" tIns="0" rIns="0" bIns="0" rtlCol="0" anchor="t"/>
          <a:lstStyle/>
          <a:p>
            <a:pPr marL="0" indent="0" algn="r">
              <a:lnSpc>
                <a:spcPts val="2000"/>
              </a:lnSpc>
              <a:buNone/>
            </a:pPr>
            <a:r>
              <a:rPr lang="en-US" sz="1600" dirty="0">
                <a:solidFill>
                  <a:srgbClr val="272525"/>
                </a:solidFill>
                <a:latin typeface="Gelasio" pitchFamily="34" charset="0"/>
                <a:ea typeface="Gelasio" pitchFamily="34" charset="-122"/>
                <a:cs typeface="Gelasio" pitchFamily="34" charset="-120"/>
              </a:rPr>
              <a:t>Testing &amp; Debugging</a:t>
            </a:r>
            <a:endParaRPr lang="en-US" sz="1600" dirty="0"/>
          </a:p>
        </p:txBody>
      </p:sp>
      <p:sp>
        <p:nvSpPr>
          <p:cNvPr id="28" name="Text 26"/>
          <p:cNvSpPr/>
          <p:nvPr/>
        </p:nvSpPr>
        <p:spPr>
          <a:xfrm>
            <a:off x="576143" y="5251490"/>
            <a:ext cx="5915978" cy="263366"/>
          </a:xfrm>
          <a:prstGeom prst="rect">
            <a:avLst/>
          </a:prstGeom>
          <a:noFill/>
          <a:ln/>
        </p:spPr>
        <p:txBody>
          <a:bodyPr wrap="none" lIns="0" tIns="0" rIns="0" bIns="0" rtlCol="0" anchor="t"/>
          <a:lstStyle/>
          <a:p>
            <a:pPr marL="0" indent="0" algn="r">
              <a:lnSpc>
                <a:spcPts val="2050"/>
              </a:lnSpc>
              <a:buNone/>
            </a:pPr>
            <a:r>
              <a:rPr lang="en-US" sz="1250" dirty="0">
                <a:solidFill>
                  <a:srgbClr val="272525"/>
                </a:solidFill>
                <a:latin typeface="Lato" pitchFamily="34" charset="0"/>
                <a:ea typeface="Lato" pitchFamily="34" charset="-122"/>
                <a:cs typeface="Lato" pitchFamily="34" charset="-120"/>
              </a:rPr>
              <a:t>Ensure functionality.</a:t>
            </a:r>
            <a:endParaRPr lang="en-US" sz="1250" dirty="0"/>
          </a:p>
        </p:txBody>
      </p:sp>
      <p:sp>
        <p:nvSpPr>
          <p:cNvPr id="29" name="Shape 27"/>
          <p:cNvSpPr/>
          <p:nvPr/>
        </p:nvSpPr>
        <p:spPr>
          <a:xfrm>
            <a:off x="7477542" y="5864185"/>
            <a:ext cx="493871" cy="22860"/>
          </a:xfrm>
          <a:prstGeom prst="roundRect">
            <a:avLst>
              <a:gd name="adj" fmla="val 302476"/>
            </a:avLst>
          </a:prstGeom>
          <a:solidFill>
            <a:srgbClr val="CECEC9"/>
          </a:solidFill>
          <a:ln/>
        </p:spPr>
      </p:sp>
      <p:sp>
        <p:nvSpPr>
          <p:cNvPr id="30" name="Shape 28"/>
          <p:cNvSpPr/>
          <p:nvPr/>
        </p:nvSpPr>
        <p:spPr>
          <a:xfrm>
            <a:off x="7129998" y="5690473"/>
            <a:ext cx="370403" cy="370403"/>
          </a:xfrm>
          <a:prstGeom prst="roundRect">
            <a:avLst>
              <a:gd name="adj" fmla="val 18668"/>
            </a:avLst>
          </a:prstGeom>
          <a:solidFill>
            <a:srgbClr val="E8E8E3"/>
          </a:solidFill>
          <a:ln w="7620">
            <a:solidFill>
              <a:srgbClr val="CECEC9"/>
            </a:solidFill>
            <a:prstDash val="solid"/>
          </a:ln>
        </p:spPr>
      </p:sp>
      <p:sp>
        <p:nvSpPr>
          <p:cNvPr id="31" name="Text 29"/>
          <p:cNvSpPr/>
          <p:nvPr/>
        </p:nvSpPr>
        <p:spPr>
          <a:xfrm>
            <a:off x="7191673" y="5721310"/>
            <a:ext cx="246936" cy="308610"/>
          </a:xfrm>
          <a:prstGeom prst="rect">
            <a:avLst/>
          </a:prstGeom>
          <a:noFill/>
          <a:ln/>
        </p:spPr>
        <p:txBody>
          <a:bodyPr wrap="none" lIns="0" tIns="0" rIns="0" bIns="0" rtlCol="0" anchor="t"/>
          <a:lstStyle/>
          <a:p>
            <a:pPr marL="0" indent="0" algn="ctr">
              <a:lnSpc>
                <a:spcPts val="1900"/>
              </a:lnSpc>
              <a:buNone/>
            </a:pPr>
            <a:r>
              <a:rPr lang="en-US" sz="1900" dirty="0">
                <a:solidFill>
                  <a:srgbClr val="272525"/>
                </a:solidFill>
                <a:latin typeface="Gelasio" pitchFamily="34" charset="0"/>
                <a:ea typeface="Gelasio" pitchFamily="34" charset="-122"/>
                <a:cs typeface="Gelasio" pitchFamily="34" charset="-120"/>
              </a:rPr>
              <a:t>6</a:t>
            </a:r>
            <a:endParaRPr lang="en-US" sz="1900" dirty="0"/>
          </a:p>
        </p:txBody>
      </p:sp>
      <p:sp>
        <p:nvSpPr>
          <p:cNvPr id="32" name="Text 30"/>
          <p:cNvSpPr/>
          <p:nvPr/>
        </p:nvSpPr>
        <p:spPr>
          <a:xfrm>
            <a:off x="8138279" y="5747028"/>
            <a:ext cx="2057876" cy="257175"/>
          </a:xfrm>
          <a:prstGeom prst="rect">
            <a:avLst/>
          </a:prstGeom>
          <a:noFill/>
          <a:ln/>
        </p:spPr>
        <p:txBody>
          <a:bodyPr wrap="none" lIns="0" tIns="0" rIns="0" bIns="0" rtlCol="0" anchor="t"/>
          <a:lstStyle/>
          <a:p>
            <a:pPr marL="0" indent="0" algn="l">
              <a:lnSpc>
                <a:spcPts val="2000"/>
              </a:lnSpc>
              <a:buNone/>
            </a:pPr>
            <a:r>
              <a:rPr lang="en-US" sz="1600" dirty="0">
                <a:solidFill>
                  <a:srgbClr val="272525"/>
                </a:solidFill>
                <a:latin typeface="Gelasio" pitchFamily="34" charset="0"/>
                <a:ea typeface="Gelasio" pitchFamily="34" charset="-122"/>
                <a:cs typeface="Gelasio" pitchFamily="34" charset="-120"/>
              </a:rPr>
              <a:t>Deployment</a:t>
            </a:r>
            <a:endParaRPr lang="en-US" sz="1600" dirty="0"/>
          </a:p>
        </p:txBody>
      </p:sp>
      <p:sp>
        <p:nvSpPr>
          <p:cNvPr id="33" name="Text 31"/>
          <p:cNvSpPr/>
          <p:nvPr/>
        </p:nvSpPr>
        <p:spPr>
          <a:xfrm>
            <a:off x="8138279" y="6102906"/>
            <a:ext cx="5915978" cy="263366"/>
          </a:xfrm>
          <a:prstGeom prst="rect">
            <a:avLst/>
          </a:prstGeom>
          <a:noFill/>
          <a:ln/>
        </p:spPr>
        <p:txBody>
          <a:bodyPr wrap="none" lIns="0" tIns="0" rIns="0" bIns="0" rtlCol="0" anchor="t"/>
          <a:lstStyle/>
          <a:p>
            <a:pPr marL="0" indent="0" algn="l">
              <a:lnSpc>
                <a:spcPts val="2050"/>
              </a:lnSpc>
              <a:buNone/>
            </a:pPr>
            <a:r>
              <a:rPr lang="en-US" sz="1250" dirty="0">
                <a:solidFill>
                  <a:srgbClr val="272525"/>
                </a:solidFill>
                <a:latin typeface="Lato" pitchFamily="34" charset="0"/>
                <a:ea typeface="Lato" pitchFamily="34" charset="-122"/>
                <a:cs typeface="Lato" pitchFamily="34" charset="-120"/>
              </a:rPr>
              <a:t>Launch the system.</a:t>
            </a:r>
            <a:endParaRPr lang="en-US" sz="1250" dirty="0"/>
          </a:p>
        </p:txBody>
      </p:sp>
      <p:sp>
        <p:nvSpPr>
          <p:cNvPr id="34" name="Text 32"/>
          <p:cNvSpPr/>
          <p:nvPr/>
        </p:nvSpPr>
        <p:spPr>
          <a:xfrm>
            <a:off x="576143" y="7249239"/>
            <a:ext cx="13478113" cy="526733"/>
          </a:xfrm>
          <a:prstGeom prst="rect">
            <a:avLst/>
          </a:prstGeom>
          <a:noFill/>
          <a:ln/>
        </p:spPr>
        <p:txBody>
          <a:bodyPr wrap="square" lIns="0" tIns="0" rIns="0" bIns="0" rtlCol="0" anchor="t"/>
          <a:lstStyle/>
          <a:p>
            <a:pPr marL="0" indent="0" algn="l">
              <a:lnSpc>
                <a:spcPts val="2050"/>
              </a:lnSpc>
              <a:buNone/>
            </a:pPr>
            <a:r>
              <a:rPr lang="en-US" sz="1250" dirty="0">
                <a:solidFill>
                  <a:srgbClr val="272525"/>
                </a:solidFill>
                <a:latin typeface="Lato" pitchFamily="34" charset="0"/>
                <a:ea typeface="Lato" pitchFamily="34" charset="-122"/>
                <a:cs typeface="Lato" pitchFamily="34" charset="-120"/>
              </a:rPr>
              <a:t>Our development workflow follows a structured timeline. Starting with detailed planning and design, we progress through database setup, backend and UI development, rigorous testing, and finally, deployment. This ensures a systematic and efficient build process.</a:t>
            </a:r>
            <a:endParaRPr lang="en-US" sz="1250" dirty="0"/>
          </a:p>
        </p:txBody>
      </p:sp>
      <p:sp>
        <p:nvSpPr>
          <p:cNvPr id="35" name="Oval 34">
            <a:extLst>
              <a:ext uri="{FF2B5EF4-FFF2-40B4-BE49-F238E27FC236}">
                <a16:creationId xmlns:a16="http://schemas.microsoft.com/office/drawing/2014/main" id="{36407FDC-8224-CAFA-65EB-49C82F49F087}"/>
              </a:ext>
            </a:extLst>
          </p:cNvPr>
          <p:cNvSpPr/>
          <p:nvPr/>
        </p:nvSpPr>
        <p:spPr>
          <a:xfrm>
            <a:off x="12656127" y="7465813"/>
            <a:ext cx="1974273" cy="763787"/>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2198370"/>
            <a:ext cx="5939433" cy="708779"/>
          </a:xfrm>
          <a:prstGeom prst="rect">
            <a:avLst/>
          </a:prstGeom>
          <a:noFill/>
          <a:ln/>
        </p:spPr>
        <p:txBody>
          <a:bodyPr wrap="none" lIns="0" tIns="0" rIns="0" bIns="0" rtlCol="0" anchor="t"/>
          <a:lstStyle/>
          <a:p>
            <a:pPr marL="0" indent="0" algn="l">
              <a:lnSpc>
                <a:spcPts val="5550"/>
              </a:lnSpc>
              <a:buNone/>
            </a:pPr>
            <a:r>
              <a:rPr lang="en-US" sz="4450" dirty="0">
                <a:solidFill>
                  <a:srgbClr val="312F2B"/>
                </a:solidFill>
                <a:latin typeface="Gelasio" pitchFamily="34" charset="0"/>
                <a:ea typeface="Gelasio" pitchFamily="34" charset="-122"/>
                <a:cs typeface="Gelasio" pitchFamily="34" charset="-120"/>
              </a:rPr>
              <a:t>Next Steps for Learning</a:t>
            </a:r>
            <a:endParaRPr lang="en-US" sz="4450" dirty="0"/>
          </a:p>
        </p:txBody>
      </p:sp>
      <p:sp>
        <p:nvSpPr>
          <p:cNvPr id="3" name="Text 1"/>
          <p:cNvSpPr/>
          <p:nvPr/>
        </p:nvSpPr>
        <p:spPr>
          <a:xfrm>
            <a:off x="793790" y="3360777"/>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Lato" pitchFamily="34" charset="0"/>
                <a:ea typeface="Lato" pitchFamily="34" charset="-122"/>
                <a:cs typeface="Lato" pitchFamily="34" charset="-120"/>
              </a:rPr>
              <a:t>Experiment with different UI frameworks.</a:t>
            </a:r>
            <a:endParaRPr lang="en-US" sz="1750" dirty="0"/>
          </a:p>
        </p:txBody>
      </p:sp>
      <p:sp>
        <p:nvSpPr>
          <p:cNvPr id="4" name="Text 2"/>
          <p:cNvSpPr/>
          <p:nvPr/>
        </p:nvSpPr>
        <p:spPr>
          <a:xfrm>
            <a:off x="793790" y="3802975"/>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Lato" pitchFamily="34" charset="0"/>
                <a:ea typeface="Lato" pitchFamily="34" charset="-122"/>
                <a:cs typeface="Lato" pitchFamily="34" charset="-120"/>
              </a:rPr>
              <a:t>Add more complex features like attendance tracking.</a:t>
            </a:r>
            <a:endParaRPr lang="en-US" sz="1750" dirty="0"/>
          </a:p>
        </p:txBody>
      </p:sp>
      <p:sp>
        <p:nvSpPr>
          <p:cNvPr id="5" name="Text 3"/>
          <p:cNvSpPr/>
          <p:nvPr/>
        </p:nvSpPr>
        <p:spPr>
          <a:xfrm>
            <a:off x="793790" y="4245173"/>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Lato" pitchFamily="34" charset="0"/>
                <a:ea typeface="Lato" pitchFamily="34" charset="-122"/>
                <a:cs typeface="Lato" pitchFamily="34" charset="-120"/>
              </a:rPr>
              <a:t>Explore advanced database queries.</a:t>
            </a:r>
            <a:endParaRPr lang="en-US" sz="1750" dirty="0"/>
          </a:p>
        </p:txBody>
      </p:sp>
      <p:sp>
        <p:nvSpPr>
          <p:cNvPr id="6" name="Text 4"/>
          <p:cNvSpPr/>
          <p:nvPr/>
        </p:nvSpPr>
        <p:spPr>
          <a:xfrm>
            <a:off x="793790" y="4687372"/>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Lato" pitchFamily="34" charset="0"/>
                <a:ea typeface="Lato" pitchFamily="34" charset="-122"/>
                <a:cs typeface="Lato" pitchFamily="34" charset="-120"/>
              </a:rPr>
              <a:t>Implement user authentication and roles.</a:t>
            </a:r>
            <a:endParaRPr lang="en-US" sz="1750" dirty="0"/>
          </a:p>
        </p:txBody>
      </p:sp>
      <p:sp>
        <p:nvSpPr>
          <p:cNvPr id="7" name="Text 5"/>
          <p:cNvSpPr/>
          <p:nvPr/>
        </p:nvSpPr>
        <p:spPr>
          <a:xfrm>
            <a:off x="793790" y="5305425"/>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To deepen your understanding, try integrating new UI frameworks or expanding features like attendance tracking. Delve into advanced database queries and implement robust user authentication. Continuous learning is key to mastery.</a:t>
            </a:r>
            <a:endParaRPr lang="en-US" sz="1750" dirty="0"/>
          </a:p>
        </p:txBody>
      </p:sp>
      <p:sp>
        <p:nvSpPr>
          <p:cNvPr id="8" name="Oval 7">
            <a:extLst>
              <a:ext uri="{FF2B5EF4-FFF2-40B4-BE49-F238E27FC236}">
                <a16:creationId xmlns:a16="http://schemas.microsoft.com/office/drawing/2014/main" id="{2679EEA4-9716-BA59-E441-7FB02F799660}"/>
              </a:ext>
            </a:extLst>
          </p:cNvPr>
          <p:cNvSpPr/>
          <p:nvPr/>
        </p:nvSpPr>
        <p:spPr>
          <a:xfrm>
            <a:off x="12656127" y="7465813"/>
            <a:ext cx="1974273" cy="763787"/>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496</Words>
  <Application>Microsoft Office PowerPoint</Application>
  <PresentationFormat>Custom</PresentationFormat>
  <Paragraphs>72</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Gelasio</vt:lpstr>
      <vt:lpstr>Lato Bold</vt:lpstr>
      <vt:lpstr>Arial</vt:lpstr>
      <vt:lpstr>Lato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Ganesh Maruthi</cp:lastModifiedBy>
  <cp:revision>2</cp:revision>
  <dcterms:created xsi:type="dcterms:W3CDTF">2025-06-02T09:58:24Z</dcterms:created>
  <dcterms:modified xsi:type="dcterms:W3CDTF">2025-06-02T10:05:56Z</dcterms:modified>
</cp:coreProperties>
</file>